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3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charts/chart4.xml" ContentType="application/vnd.openxmlformats-officedocument.drawingml.chart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5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3C5D"/>
                </a:solidFill>
                <a:latin typeface="Calibri"/>
              </a:rPr>
              <a:t>No toggles on: general trend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History</c:v>
                </c:pt>
              </c:strCache>
            </c:strRef>
          </c:tx>
          <c:spPr>
            <a:solidFill>
              <a:srgbClr val="0B3C5D"/>
            </a:solidFill>
            <a:ln w="31750" cap="flat">
              <a:solidFill>
                <a:srgbClr val="0B3C5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3C5D"/>
              </a:solidFill>
              <a:ln w="9525" cap="flat">
                <a:solidFill>
                  <a:srgbClr val="0B3C5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Aug</c:v>
                  </c:pt>
                  <c:pt idx="2">
                    <c:v>Sep</c:v>
                  </c:pt>
                  <c:pt idx="3">
                    <c:v>Oct</c:v>
                  </c:pt>
                  <c:pt idx="4">
                    <c:v>Nov</c:v>
                  </c:pt>
                  <c:pt idx="5">
                    <c:v>Dec</c:v>
                  </c:pt>
                  <c:pt idx="6">
                    <c:v>Jan</c:v>
                  </c:pt>
                  <c:pt idx="7">
                    <c:v>Feb</c:v>
                  </c:pt>
                  <c:pt idx="8">
                    <c:v>Mar</c:v>
                  </c:pt>
                  <c:pt idx="9">
                    <c:v>Apr</c:v>
                  </c:pt>
                  <c:pt idx="10">
                    <c:v>May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</c:v>
                </c:pt>
                <c:pt idx="1">
                  <c:v>103</c:v>
                </c:pt>
                <c:pt idx="2">
                  <c:v>106</c:v>
                </c:pt>
                <c:pt idx="3">
                  <c:v>108</c:v>
                </c:pt>
                <c:pt idx="4">
                  <c:v>111</c:v>
                </c:pt>
                <c:pt idx="5">
                  <c:v>113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 forecast</c:v>
                </c:pt>
              </c:strCache>
            </c:strRef>
          </c:tx>
          <c:spPr>
            <a:solidFill>
              <a:srgbClr val="1D8A99"/>
            </a:solidFill>
            <a:ln w="31750" cap="flat">
              <a:solidFill>
                <a:srgbClr val="1D8A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D8A99"/>
              </a:solidFill>
              <a:ln w="9525" cap="flat">
                <a:solidFill>
                  <a:srgbClr val="1D8A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Aug</c:v>
                  </c:pt>
                  <c:pt idx="2">
                    <c:v>Sep</c:v>
                  </c:pt>
                  <c:pt idx="3">
                    <c:v>Oct</c:v>
                  </c:pt>
                  <c:pt idx="4">
                    <c:v>Nov</c:v>
                  </c:pt>
                  <c:pt idx="5">
                    <c:v>Dec</c:v>
                  </c:pt>
                  <c:pt idx="6">
                    <c:v>Jan</c:v>
                  </c:pt>
                  <c:pt idx="7">
                    <c:v>Feb</c:v>
                  </c:pt>
                  <c:pt idx="8">
                    <c:v>Mar</c:v>
                  </c:pt>
                  <c:pt idx="9">
                    <c:v>Apr</c:v>
                  </c:pt>
                  <c:pt idx="10">
                    <c:v>May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115</c:v>
                </c:pt>
                <c:pt idx="7">
                  <c:v>116</c:v>
                </c:pt>
                <c:pt idx="8">
                  <c:v>116</c:v>
                </c:pt>
                <c:pt idx="9">
                  <c:v>117</c:v>
                </c:pt>
                <c:pt idx="10">
                  <c:v>118</c:v>
                </c:pt>
                <c:pt idx="11">
                  <c:v>118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2"/>
          <c:min val="9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5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3C5D"/>
                </a:solidFill>
                <a:latin typeface="Calibri"/>
              </a:rPr>
              <a:t>Layoffs toggle on: what-if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History</c:v>
                </c:pt>
              </c:strCache>
            </c:strRef>
          </c:tx>
          <c:spPr>
            <a:solidFill>
              <a:srgbClr val="0B3C5D"/>
            </a:solidFill>
            <a:ln w="31750" cap="flat">
              <a:solidFill>
                <a:srgbClr val="0B3C5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3C5D"/>
              </a:solidFill>
              <a:ln w="9525" cap="flat">
                <a:solidFill>
                  <a:srgbClr val="0B3C5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Aug</c:v>
                  </c:pt>
                  <c:pt idx="2">
                    <c:v>Sep</c:v>
                  </c:pt>
                  <c:pt idx="3">
                    <c:v>Oct</c:v>
                  </c:pt>
                  <c:pt idx="4">
                    <c:v>Nov</c:v>
                  </c:pt>
                  <c:pt idx="5">
                    <c:v>Dec</c:v>
                  </c:pt>
                  <c:pt idx="6">
                    <c:v>Jan</c:v>
                  </c:pt>
                  <c:pt idx="7">
                    <c:v>Feb</c:v>
                  </c:pt>
                  <c:pt idx="8">
                    <c:v>Mar</c:v>
                  </c:pt>
                  <c:pt idx="9">
                    <c:v>Apr</c:v>
                  </c:pt>
                  <c:pt idx="10">
                    <c:v>May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</c:v>
                </c:pt>
                <c:pt idx="1">
                  <c:v>103</c:v>
                </c:pt>
                <c:pt idx="2">
                  <c:v>106</c:v>
                </c:pt>
                <c:pt idx="3">
                  <c:v>108</c:v>
                </c:pt>
                <c:pt idx="4">
                  <c:v>111</c:v>
                </c:pt>
                <c:pt idx="5">
                  <c:v>113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 (for comparison)</c:v>
                </c:pt>
              </c:strCache>
            </c:strRef>
          </c:tx>
          <c:spPr>
            <a:solidFill>
              <a:srgbClr val="1D8A99"/>
            </a:solidFill>
            <a:ln w="31750" cap="flat">
              <a:solidFill>
                <a:srgbClr val="1D8A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D8A99"/>
              </a:solidFill>
              <a:ln w="9525" cap="flat">
                <a:solidFill>
                  <a:srgbClr val="1D8A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Aug</c:v>
                  </c:pt>
                  <c:pt idx="2">
                    <c:v>Sep</c:v>
                  </c:pt>
                  <c:pt idx="3">
                    <c:v>Oct</c:v>
                  </c:pt>
                  <c:pt idx="4">
                    <c:v>Nov</c:v>
                  </c:pt>
                  <c:pt idx="5">
                    <c:v>Dec</c:v>
                  </c:pt>
                  <c:pt idx="6">
                    <c:v>Jan</c:v>
                  </c:pt>
                  <c:pt idx="7">
                    <c:v>Feb</c:v>
                  </c:pt>
                  <c:pt idx="8">
                    <c:v>Mar</c:v>
                  </c:pt>
                  <c:pt idx="9">
                    <c:v>Apr</c:v>
                  </c:pt>
                  <c:pt idx="10">
                    <c:v>May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115</c:v>
                </c:pt>
                <c:pt idx="7">
                  <c:v>116</c:v>
                </c:pt>
                <c:pt idx="8">
                  <c:v>116</c:v>
                </c:pt>
                <c:pt idx="9">
                  <c:v>117</c:v>
                </c:pt>
                <c:pt idx="10">
                  <c:v>118</c:v>
                </c:pt>
                <c:pt idx="11">
                  <c:v>118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What-if: layoffs on</c:v>
                </c:pt>
              </c:strCache>
            </c:strRef>
          </c:tx>
          <c:spPr>
            <a:solidFill>
              <a:srgbClr val="E07A1F"/>
            </a:solidFill>
            <a:ln w="31750" cap="flat">
              <a:solidFill>
                <a:srgbClr val="E07A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7A1F"/>
              </a:solidFill>
              <a:ln w="9525" cap="flat">
                <a:solidFill>
                  <a:srgbClr val="E07A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Aug</c:v>
                  </c:pt>
                  <c:pt idx="2">
                    <c:v>Sep</c:v>
                  </c:pt>
                  <c:pt idx="3">
                    <c:v>Oct</c:v>
                  </c:pt>
                  <c:pt idx="4">
                    <c:v>Nov</c:v>
                  </c:pt>
                  <c:pt idx="5">
                    <c:v>Dec</c:v>
                  </c:pt>
                  <c:pt idx="6">
                    <c:v>Jan</c:v>
                  </c:pt>
                  <c:pt idx="7">
                    <c:v>Feb</c:v>
                  </c:pt>
                  <c:pt idx="8">
                    <c:v>Mar</c:v>
                  </c:pt>
                  <c:pt idx="9">
                    <c:v>Apr</c:v>
                  </c:pt>
                  <c:pt idx="10">
                    <c:v>May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115</c:v>
                </c:pt>
                <c:pt idx="7">
                  <c:v>114</c:v>
                </c:pt>
                <c:pt idx="8">
                  <c:v>112</c:v>
                </c:pt>
                <c:pt idx="9">
                  <c:v>110</c:v>
                </c:pt>
                <c:pt idx="10">
                  <c:v>109</c:v>
                </c:pt>
                <c:pt idx="11">
                  <c:v>108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2"/>
          <c:min val="9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History</c:v>
                </c:pt>
              </c:strCache>
            </c:strRef>
          </c:tx>
          <c:spPr>
            <a:solidFill>
              <a:srgbClr val="0B3C5D"/>
            </a:solidFill>
            <a:ln w="31750" cap="flat">
              <a:solidFill>
                <a:srgbClr val="0B3C5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3C5D"/>
              </a:solidFill>
              <a:ln w="9525" cap="flat">
                <a:solidFill>
                  <a:srgbClr val="0B3C5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Aug</c:v>
                  </c:pt>
                  <c:pt idx="2">
                    <c:v>Sep</c:v>
                  </c:pt>
                  <c:pt idx="3">
                    <c:v>Oct</c:v>
                  </c:pt>
                  <c:pt idx="4">
                    <c:v>Nov</c:v>
                  </c:pt>
                  <c:pt idx="5">
                    <c:v>Dec</c:v>
                  </c:pt>
                  <c:pt idx="6">
                    <c:v>Jan</c:v>
                  </c:pt>
                  <c:pt idx="7">
                    <c:v>Feb</c:v>
                  </c:pt>
                  <c:pt idx="8">
                    <c:v>Mar</c:v>
                  </c:pt>
                  <c:pt idx="9">
                    <c:v>Apr</c:v>
                  </c:pt>
                  <c:pt idx="10">
                    <c:v>May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</c:v>
                </c:pt>
                <c:pt idx="1">
                  <c:v>103</c:v>
                </c:pt>
                <c:pt idx="2">
                  <c:v>106</c:v>
                </c:pt>
                <c:pt idx="3">
                  <c:v>108</c:v>
                </c:pt>
                <c:pt idx="4">
                  <c:v>111</c:v>
                </c:pt>
                <c:pt idx="5">
                  <c:v>113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 (no toggles)</c:v>
                </c:pt>
              </c:strCache>
            </c:strRef>
          </c:tx>
          <c:spPr>
            <a:solidFill>
              <a:srgbClr val="1D8A99"/>
            </a:solidFill>
            <a:ln w="31750" cap="flat">
              <a:solidFill>
                <a:srgbClr val="1D8A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D8A99"/>
              </a:solidFill>
              <a:ln w="9525" cap="flat">
                <a:solidFill>
                  <a:srgbClr val="1D8A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Aug</c:v>
                  </c:pt>
                  <c:pt idx="2">
                    <c:v>Sep</c:v>
                  </c:pt>
                  <c:pt idx="3">
                    <c:v>Oct</c:v>
                  </c:pt>
                  <c:pt idx="4">
                    <c:v>Nov</c:v>
                  </c:pt>
                  <c:pt idx="5">
                    <c:v>Dec</c:v>
                  </c:pt>
                  <c:pt idx="6">
                    <c:v>Jan</c:v>
                  </c:pt>
                  <c:pt idx="7">
                    <c:v>Feb</c:v>
                  </c:pt>
                  <c:pt idx="8">
                    <c:v>Mar</c:v>
                  </c:pt>
                  <c:pt idx="9">
                    <c:v>Apr</c:v>
                  </c:pt>
                  <c:pt idx="10">
                    <c:v>May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115</c:v>
                </c:pt>
                <c:pt idx="7">
                  <c:v>116</c:v>
                </c:pt>
                <c:pt idx="8">
                  <c:v>116</c:v>
                </c:pt>
                <c:pt idx="9">
                  <c:v>117</c:v>
                </c:pt>
                <c:pt idx="10">
                  <c:v>118</c:v>
                </c:pt>
                <c:pt idx="11">
                  <c:v>118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Conflict on</c:v>
                </c:pt>
              </c:strCache>
            </c:strRef>
          </c:tx>
          <c:spPr>
            <a:solidFill>
              <a:srgbClr val="D1495B"/>
            </a:solidFill>
            <a:ln w="31750" cap="flat">
              <a:solidFill>
                <a:srgbClr val="D149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1495B"/>
              </a:solidFill>
              <a:ln w="9525" cap="flat">
                <a:solidFill>
                  <a:srgbClr val="D149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Aug</c:v>
                  </c:pt>
                  <c:pt idx="2">
                    <c:v>Sep</c:v>
                  </c:pt>
                  <c:pt idx="3">
                    <c:v>Oct</c:v>
                  </c:pt>
                  <c:pt idx="4">
                    <c:v>Nov</c:v>
                  </c:pt>
                  <c:pt idx="5">
                    <c:v>Dec</c:v>
                  </c:pt>
                  <c:pt idx="6">
                    <c:v>Jan</c:v>
                  </c:pt>
                  <c:pt idx="7">
                    <c:v>Feb</c:v>
                  </c:pt>
                  <c:pt idx="8">
                    <c:v>Mar</c:v>
                  </c:pt>
                  <c:pt idx="9">
                    <c:v>Apr</c:v>
                  </c:pt>
                  <c:pt idx="10">
                    <c:v>May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115</c:v>
                </c:pt>
                <c:pt idx="7">
                  <c:v>117</c:v>
                </c:pt>
                <c:pt idx="8">
                  <c:v>113</c:v>
                </c:pt>
                <c:pt idx="9">
                  <c:v>108</c:v>
                </c:pt>
                <c:pt idx="10">
                  <c:v>105</c:v>
                </c:pt>
                <c:pt idx="11">
                  <c:v>104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Conflict on + reversal actions</c:v>
                </c:pt>
              </c:strCache>
            </c:strRef>
          </c:tx>
          <c:spPr>
            <a:solidFill>
              <a:srgbClr val="2E9E5B"/>
            </a:solidFill>
            <a:ln w="31750" cap="flat">
              <a:solidFill>
                <a:srgbClr val="2E9E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9E5B"/>
              </a:solidFill>
              <a:ln w="9525" cap="flat">
                <a:solidFill>
                  <a:srgbClr val="2E9E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Aug</c:v>
                  </c:pt>
                  <c:pt idx="2">
                    <c:v>Sep</c:v>
                  </c:pt>
                  <c:pt idx="3">
                    <c:v>Oct</c:v>
                  </c:pt>
                  <c:pt idx="4">
                    <c:v>Nov</c:v>
                  </c:pt>
                  <c:pt idx="5">
                    <c:v>Dec</c:v>
                  </c:pt>
                  <c:pt idx="6">
                    <c:v>Jan</c:v>
                  </c:pt>
                  <c:pt idx="7">
                    <c:v>Feb</c:v>
                  </c:pt>
                  <c:pt idx="8">
                    <c:v>Mar</c:v>
                  </c:pt>
                  <c:pt idx="9">
                    <c:v>Apr</c:v>
                  </c:pt>
                  <c:pt idx="10">
                    <c:v>May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115</c:v>
                </c:pt>
                <c:pt idx="7">
                  <c:v>116</c:v>
                </c:pt>
                <c:pt idx="8">
                  <c:v>114</c:v>
                </c:pt>
                <c:pt idx="9">
                  <c:v>111</c:v>
                </c:pt>
                <c:pt idx="10">
                  <c:v>110</c:v>
                </c:pt>
                <c:pt idx="11">
                  <c:v>111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2"/>
          <c:min val="9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History</c:v>
                </c:pt>
              </c:strCache>
            </c:strRef>
          </c:tx>
          <c:spPr>
            <a:solidFill>
              <a:srgbClr val="0B3C5D"/>
            </a:solidFill>
            <a:ln w="31750" cap="flat">
              <a:solidFill>
                <a:srgbClr val="0B3C5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3C5D"/>
              </a:solidFill>
              <a:ln w="9525" cap="flat">
                <a:solidFill>
                  <a:srgbClr val="0B3C5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Aug</c:v>
                  </c:pt>
                  <c:pt idx="2">
                    <c:v>Sep</c:v>
                  </c:pt>
                  <c:pt idx="3">
                    <c:v>Oct</c:v>
                  </c:pt>
                  <c:pt idx="4">
                    <c:v>Nov</c:v>
                  </c:pt>
                  <c:pt idx="5">
                    <c:v>Dec</c:v>
                  </c:pt>
                  <c:pt idx="6">
                    <c:v>Jan</c:v>
                  </c:pt>
                  <c:pt idx="7">
                    <c:v>Feb</c:v>
                  </c:pt>
                  <c:pt idx="8">
                    <c:v>Mar</c:v>
                  </c:pt>
                  <c:pt idx="9">
                    <c:v>Apr</c:v>
                  </c:pt>
                  <c:pt idx="10">
                    <c:v>May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</c:v>
                </c:pt>
                <c:pt idx="1">
                  <c:v>103</c:v>
                </c:pt>
                <c:pt idx="2">
                  <c:v>106</c:v>
                </c:pt>
                <c:pt idx="3">
                  <c:v>108</c:v>
                </c:pt>
                <c:pt idx="4">
                  <c:v>111</c:v>
                </c:pt>
                <c:pt idx="5">
                  <c:v>113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 forecast</c:v>
                </c:pt>
              </c:strCache>
            </c:strRef>
          </c:tx>
          <c:spPr>
            <a:solidFill>
              <a:srgbClr val="1D8A99"/>
            </a:solidFill>
            <a:ln w="31750" cap="flat">
              <a:solidFill>
                <a:srgbClr val="1D8A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D8A99"/>
              </a:solidFill>
              <a:ln w="9525" cap="flat">
                <a:solidFill>
                  <a:srgbClr val="1D8A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Aug</c:v>
                  </c:pt>
                  <c:pt idx="2">
                    <c:v>Sep</c:v>
                  </c:pt>
                  <c:pt idx="3">
                    <c:v>Oct</c:v>
                  </c:pt>
                  <c:pt idx="4">
                    <c:v>Nov</c:v>
                  </c:pt>
                  <c:pt idx="5">
                    <c:v>Dec</c:v>
                  </c:pt>
                  <c:pt idx="6">
                    <c:v>Jan</c:v>
                  </c:pt>
                  <c:pt idx="7">
                    <c:v>Feb</c:v>
                  </c:pt>
                  <c:pt idx="8">
                    <c:v>Mar</c:v>
                  </c:pt>
                  <c:pt idx="9">
                    <c:v>Apr</c:v>
                  </c:pt>
                  <c:pt idx="10">
                    <c:v>May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115</c:v>
                </c:pt>
                <c:pt idx="7">
                  <c:v>116</c:v>
                </c:pt>
                <c:pt idx="8">
                  <c:v>116</c:v>
                </c:pt>
                <c:pt idx="9">
                  <c:v>117</c:v>
                </c:pt>
                <c:pt idx="10">
                  <c:v>118</c:v>
                </c:pt>
                <c:pt idx="11">
                  <c:v>118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What-if (toggles on)</c:v>
                </c:pt>
              </c:strCache>
            </c:strRef>
          </c:tx>
          <c:spPr>
            <a:solidFill>
              <a:srgbClr val="E07A1F"/>
            </a:solidFill>
            <a:ln w="31750" cap="flat">
              <a:solidFill>
                <a:srgbClr val="E07A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7A1F"/>
              </a:solidFill>
              <a:ln w="9525" cap="flat">
                <a:solidFill>
                  <a:srgbClr val="E07A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Aug</c:v>
                  </c:pt>
                  <c:pt idx="2">
                    <c:v>Sep</c:v>
                  </c:pt>
                  <c:pt idx="3">
                    <c:v>Oct</c:v>
                  </c:pt>
                  <c:pt idx="4">
                    <c:v>Nov</c:v>
                  </c:pt>
                  <c:pt idx="5">
                    <c:v>Dec</c:v>
                  </c:pt>
                  <c:pt idx="6">
                    <c:v>Jan</c:v>
                  </c:pt>
                  <c:pt idx="7">
                    <c:v>Feb</c:v>
                  </c:pt>
                  <c:pt idx="8">
                    <c:v>Mar</c:v>
                  </c:pt>
                  <c:pt idx="9">
                    <c:v>Apr</c:v>
                  </c:pt>
                  <c:pt idx="10">
                    <c:v>May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115</c:v>
                </c:pt>
                <c:pt idx="7">
                  <c:v>114</c:v>
                </c:pt>
                <c:pt idx="8">
                  <c:v>112</c:v>
                </c:pt>
                <c:pt idx="9">
                  <c:v>110</c:v>
                </c:pt>
                <c:pt idx="10">
                  <c:v>109</c:v>
                </c:pt>
                <c:pt idx="11">
                  <c:v>108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2"/>
          <c:min val="9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+ DATA ANALYTICS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RoCast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57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company trajectories from tabular data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346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forecasts, phase probabilities, crash and peak timing, what-if scenarios, and explained recommendations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and data pipeline overview  | 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MOTIVATION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make big decisions with little evidence about what follows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see what's next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2286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charts show what happened. They rarely show what the next months look like, or under which conditions.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517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2900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What-ifs are guesses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920240"/>
            <a:ext cx="2286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such as layoffs or new debt are judged by feel, not by how similar companies fared afterwards.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371600"/>
            <a:ext cx="26517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1792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can be invented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920240"/>
            <a:ext cx="2286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can sound certain with no data behind the claim. Every number must come from a tested model.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RoCast gives tested forecasts on company data, with the uncertainty shown next to every number.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DEFINITION OF THE PROJECT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thesis: two sides of one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3657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for any month or span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ranges, not single guesses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each of nine phases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and peak years, with probabilities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shares for every forecast month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828800"/>
            <a:ext cx="3657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8288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five pages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Toggles for festivals, events, macro factors, and decisions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view with all toggles off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comparison within one niche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shown as estimates from past cases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rule: every number comes from our models on our data. The language layer only explains.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(forecasts) + DATA ANALYTICS (views)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RoCast serves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forecast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range for one month, a span such as January to June, or several chosen months.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probabilities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of each of the nine phases, for each forecast month.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and peak timing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a downfall or a peak in each year, with the most likely year.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611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festival, decision, or scenario moved each forecast, and by how much.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46120" y="306324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42900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and sensitivity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611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conditions on or off, one at a time or in combinations.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306324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21792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logs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611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testing accuracy for each company, next to simple baselines.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SCIENCE: DATA PREPARATION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Data: trial files and status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trial companies. The real set of 10 to 15 companies is being collected.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554480"/>
                <a:gridCol w="822960"/>
                <a:gridCol w="1463040"/>
                <a:gridCol w="26517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tech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2005 to 2026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Cleaned; augmented 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Nike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Apparel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2005 to 2026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Cleaned; verify 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Flipkart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E-commerce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 to 2026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Cleaned; verify 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of America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1991 to 2025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book proxy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JPMorgan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1991 to 2026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Cleaned; augmented 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BlackRock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mgmt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1999 to 2023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Cleaned; ETFs as context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Morgan Stanley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(calibrated)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Alphabet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 to 2024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history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 to 2024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history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SCIENCE: CONCEPTS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Factors, features, and functions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2286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around the company: interest rates, inflation, unemployment, consumer sentiment, and each country's festival and sales calendar. The environment sets these, not the company.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6517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828800"/>
            <a:ext cx="2286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the model reads for each month, computed from the data: growth, averages, drawdown, 12-month slope, z-score, calendar flags, and scenario values.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6517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828800"/>
            <a:ext cx="2286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jobs the system performs: forecast a month or span, label phases, time peaks and crashes, measure sensitivity, build decision chains, find analogs, recommend, compare peers, and explain.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SCIENCE: CONCEPTS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pieces connect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2064" y="132588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(environment)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83280" y="132588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1D8A99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38144" y="132588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(events)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32588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64224" y="132588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(company)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645920" y="2057400"/>
            <a:ext cx="1920240" cy="45720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0" y="2057400"/>
            <a:ext cx="0" cy="45720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H="1">
            <a:off x="5577840" y="2057400"/>
            <a:ext cx="1920240" cy="45720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83280" y="251460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38144" y="251460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Toggles: on or off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3154680"/>
            <a:ext cx="0" cy="41148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383280" y="356616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1D8A99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38144" y="356616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numbers the model reads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60720" y="3931920"/>
            <a:ext cx="54864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09360" y="356616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64224" y="356616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Functions: forecast, phases, timing, chains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5204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are always present. Scenarios and decisions enter only when their toggle is on.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526280"/>
            <a:ext cx="8229600" cy="548640"/>
          </a:xfrm>
          <a:prstGeom prst="rect">
            <a:avLst/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526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are the only thing the model reads. Functions turn the model's output into the answers users see.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USER CONTROLS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Toggles go down to specific items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narrows the choice. Turning off a parent turns off everything beneath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2064" y="233172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toggles off: general trend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11430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1: category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1430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2: item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1430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3: specific detail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77440" y="141732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32304" y="141732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80560" y="141732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35424" y="141732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Country: India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66560" y="141732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21424" y="141732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Uttarayan (January)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 flipV="1">
            <a:off x="2103120" y="1737360"/>
            <a:ext cx="274320" cy="100584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114800" y="1737360"/>
            <a:ext cx="36576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00800" y="1737360"/>
            <a:ext cx="36576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377440" y="219456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1D8A99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32304" y="219456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480560" y="219456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35424" y="219456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Layoffs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766560" y="219456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21424" y="219456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500 roles in a span month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 flipV="1">
            <a:off x="2103120" y="2514600"/>
            <a:ext cx="274320" cy="22860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114800" y="2514600"/>
            <a:ext cx="36576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00800" y="2514600"/>
            <a:ext cx="36576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377440" y="297180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432304" y="297180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480560" y="297180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35424" y="297180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 conflict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766560" y="297180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21424" y="297180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A strikes Country B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103120" y="2743200"/>
            <a:ext cx="274320" cy="54864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114800" y="3291840"/>
            <a:ext cx="36576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400800" y="3291840"/>
            <a:ext cx="36576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377440" y="374904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1D8A99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432304" y="374904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factors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480560" y="374904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35424" y="37490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766560" y="374904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821424" y="37490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rate up 0.5 point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103120" y="2743200"/>
            <a:ext cx="274320" cy="132588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114800" y="4069080"/>
            <a:ext cx="36576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400800" y="4069080"/>
            <a:ext cx="36576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0080" y="4572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toggle that is on adds its detail to the model. A toggle that is off removes it. With all toggles off, the general trend is shown.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SCIENCE: CALENDAR INPUTS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Festival toggles: which festival, which month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span: January to March, India. Each festival is its own toggle.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651760"/>
                <a:gridCol w="2468880"/>
                <a:gridCol w="20116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Festival toggle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model reads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can change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January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Uttarayan (Gujarat kite festival)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Festival flag, festival days, regional flag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demand and travel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January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Utsav (name to confirm)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Festival flag, festival days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the confirmed festival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Festival flag, festival days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spending in the month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Uttarayan and Holi are separate toggles. Turning on Holi alone changes only March. Turning on both changes January and March.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confirm: 'Utsav' is kept as entered. Please confirm which festival it means (for example Makar Sankranti or Pongal), so the calendar uses the right dates.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SCENARIOS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Scenarios: specific, general, and decision-based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scenarios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2286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events, and any event a user describes. Each event is placed in a category, which sets its primitive values across months. Example: 9/11 belongs to the terrorist attack category.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6517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scenarios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828800"/>
            <a:ext cx="2286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from the company's own trend. Examples: growth continues at its 12-month rate, a slowdown after two falling quarters, or a recovery shaped like its past recoveries.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6517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scenarios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828800"/>
            <a:ext cx="2286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the company takes a decision. It comes from two sources: its own past decisions and their outcomes, and decisions taken by peers that it has not yet taken.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572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scenarios describe the outside world. General scenarios describe the company's own past. Decision scenarios describe what it can do.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SCIENCE: SCENARIO CATEGORIES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 scenarios: event categories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event a user describes is placed in one category. The category sets its primitives.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30175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from history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primitives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Terrorist attack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9/11 (2001)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Sentiment, geopolitical, demand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crisis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 credit crisis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Credit, sentiment, demand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Pandemic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COVID-19 (2020)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Pandemic, demand, supply, sentiment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shock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 rate hikes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Rates, sentiment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shock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 US debt downgrade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Currency shock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 China devaluation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Sentiment, demand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disruption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Shipping delays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Festival or season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Diwali, Black Friday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event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new event a user describes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Mapped to the closest 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 list is a starting point. The team can add categories without changing the model.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SCENARIOS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specific scenario: a conflict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company is exposed to a conflict. What happens if one country attacks another?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57200" cy="640080"/>
          </a:xfrm>
          <a:prstGeom prst="roundRect">
            <a:avLst>
              <a:gd name="adj" fmla="val 16000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2064" y="1325880"/>
            <a:ext cx="347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3258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Scenarios &gt; Geopolitical conflict &gt; Country A attacks Country B. Set the start month and duration.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457200" cy="640080"/>
          </a:xfrm>
          <a:prstGeom prst="roundRect">
            <a:avLst>
              <a:gd name="adj" fmla="val 16000"/>
            </a:avLst>
          </a:prstGeom>
          <a:solidFill>
            <a:srgbClr val="1D8A99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" y="2194560"/>
            <a:ext cx="347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1945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primitives: geopolitical and sentiment high; supply and demand medium. Values come from the category rubric.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457200" cy="640080"/>
          </a:xfrm>
          <a:prstGeom prst="roundRect">
            <a:avLst>
              <a:gd name="adj" fmla="val 16000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" y="3063240"/>
            <a:ext cx="347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0632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the features for each month the scenario covers.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457200" cy="640080"/>
          </a:xfrm>
          <a:prstGeom prst="roundRect">
            <a:avLst>
              <a:gd name="adj" fmla="val 16000"/>
            </a:avLst>
          </a:prstGeom>
          <a:solidFill>
            <a:srgbClr val="1D8A99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" y="3931920"/>
            <a:ext cx="347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3931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curve, the peak and downfall points, and reversal actions with effect ranges.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20640" y="1325880"/>
            <a:ext cx="35661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30352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company sees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1874520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curve with: where growth could peak, where a downfall could start, how deep it could go, and how long it may last.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Beside it: actions such as supply hedging or pausing price rises, each with its estimated effect and range.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8229600" cy="548640"/>
          </a:xfrm>
          <a:prstGeom prst="rect">
            <a:avLst/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4617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models the market effects of a conflict. It does not judge the parties involved.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DECISION SCENARIOS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scenarios: two sources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sources give estimates of what could happen if the company takes a decision.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2064" y="1463040"/>
            <a:ext cx="2999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history: decisions the company took, and what followed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1D8A99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" y="2834640"/>
            <a:ext cx="2999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decisions: taken by other companies in the niche, not yet by this company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66160" y="2011680"/>
            <a:ext cx="640080" cy="59436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3566160" y="2788920"/>
            <a:ext cx="640080" cy="59436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06240" y="22860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61104" y="228600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cases: similar conditions, same decision type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2743200"/>
            <a:ext cx="45720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583680" y="228600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38544" y="228600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path for this company, with range and case count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as an estimate with its range and case count. Never shown as a fact about this company, or as a prediction for peers.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SCIENCE: DECISION CHAINS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chains from one question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reason behind the question becomes a scenario with its own prediction.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57200" cy="512064"/>
          </a:xfrm>
          <a:prstGeom prst="roundRect">
            <a:avLst>
              <a:gd name="adj" fmla="val 16000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2064" y="1325880"/>
            <a:ext cx="347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325880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question into reasons: each decision or condition it names is one reason.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84248"/>
            <a:ext cx="457200" cy="512064"/>
          </a:xfrm>
          <a:prstGeom prst="roundRect">
            <a:avLst>
              <a:gd name="adj" fmla="val 16000"/>
            </a:avLst>
          </a:prstGeom>
          <a:solidFill>
            <a:srgbClr val="1D8A99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" y="1984248"/>
            <a:ext cx="347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984248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each reason as a scenario, alone and in the order the chain requires.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42616"/>
            <a:ext cx="457200" cy="512064"/>
          </a:xfrm>
          <a:prstGeom prst="roundRect">
            <a:avLst>
              <a:gd name="adj" fmla="val 16000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" y="2642616"/>
            <a:ext cx="347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642616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every step: cost, budget, growth, and phase, each with a range.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300984"/>
            <a:ext cx="457200" cy="512064"/>
          </a:xfrm>
          <a:prstGeom prst="roundRect">
            <a:avLst>
              <a:gd name="adj" fmla="val 16000"/>
            </a:avLst>
          </a:prstGeom>
          <a:solidFill>
            <a:srgbClr val="1D8A99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" y="3300984"/>
            <a:ext cx="347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3300984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branches side by side: where they peak, where they fall, and how far apart they end.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959352"/>
            <a:ext cx="457200" cy="512064"/>
          </a:xfrm>
          <a:prstGeom prst="roundRect">
            <a:avLst>
              <a:gd name="adj" fmla="val 16000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064" y="3959352"/>
            <a:ext cx="347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959352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 steps into one path, showing each step's share of the result.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577840" y="1325880"/>
            <a:ext cx="31089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7607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question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760720" y="1874520"/>
            <a:ext cx="2743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happens if we cut 500 roles, take on debt, and raise AI spending in Q2?"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Reasons: (1) layoffs, (2) debt, (3) AI spend.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Branches: AI spend used efficiently, or token costs overrun.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4572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is the sum of its steps. Each step's share shows which reason moved the outcome.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USER CONTROLS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Primitives, decisions, and toggles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2286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shock types, each scored from 0 to 1: demand, supply, credit and liquidity, rates, sentiment, calendar, geopolitical, and pandemic. Scenarios are built from them.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6517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828800"/>
            <a:ext cx="2286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actions a user can switch on or off: hiring, layoffs, debt issued, capital spending, acquisitions, buybacks, price changes, cost cuts, product launches, and guidance changes.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6517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828800"/>
            <a:ext cx="2286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 and off switches on the dashboard. Each one sets a factor, scenario, or decision as a model input. A switch that is off removes that input.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572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toggles on: the forecast shows the company's general trend from its own history.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SCIENCE: COMBINATIONS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any number of toggles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92608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runs needed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toggle, on or off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chosen set of toggles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run for exactly that 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toggle alone (sensitivity)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run per toggle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toggles, all combinations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on demand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toggles, all combinations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1,048,576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not enumerated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number of toggles can be on at once. The engine computes the outcome for exactly the set chosen. It does not run every combination when that is impossible.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SCIENCE: LABELS AND PROBABILITIES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nine phases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label the history. The model then estimates the probability of each phase for future months.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651760"/>
                <a:gridCol w="38404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(checked top to bottom; first match wins)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Bankrupt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Distress on record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Default, bankruptcy filing, or similar event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Crashed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fall that has flattened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Drawdown of 50% or more, growth nearly flat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 crashing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fall still falling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Drawdown of 30% or more, falling growth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Crashing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Falling from its 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Drawdown of 10% or more, falling growth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peak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above the earlier level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Peak, above the level 12 to 24 months earlier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peak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below the earlier level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Peak, at least 5% below that level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the high, growth stalled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2% of 12-month high, growth 1% or less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expanding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Year-over-year growth above 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Modest or uneven growth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else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SYSTEM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how the pieces connect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20624" y="132588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files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75688" y="132588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30552" y="132588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rules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85616" y="132588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40480" y="132588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panel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95544" y="132588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50408" y="132588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and targets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05472" y="132588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1D8A99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60336" y="132588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models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737360" y="1691640"/>
            <a:ext cx="338328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447288" y="1691640"/>
            <a:ext cx="338328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57216" y="1691640"/>
            <a:ext cx="338328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67144" y="1691640"/>
            <a:ext cx="338328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785616" y="260604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40480" y="260604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(5 pages)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95544" y="260604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550408" y="260604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(FastAPI)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205472" y="260604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1D8A99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60336" y="260604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and logs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891272" y="2057400"/>
            <a:ext cx="0" cy="54864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6867144" y="2971800"/>
            <a:ext cx="338328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H="1">
            <a:off x="5157216" y="2971800"/>
            <a:ext cx="338328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785616" y="384048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840480" y="384048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index (per company, plus board)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95544" y="384048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550408" y="384048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layer (Qwen, Claude, or Beam)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157216" y="4206240"/>
            <a:ext cx="338328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6181344" y="3337560"/>
            <a:ext cx="0" cy="50292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Navy: data work   Teal: modelling and results   Pale: serving   Amber: language layer and retrieval. Numbers come only from the teal path.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SCIENCE: DATA PREPARATION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monthly panel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company per month, built from many raw rows.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and how it works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one table: one row per company per month. Each column is a monthly summary of the company's raw rows. The cleaned rows are grouped by company and month, then one rule is applied per column: sum for flows, last for prices, mean for rates, count for records.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28016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1280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COMPANY_A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2019-06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rows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row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of rows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0" y="3474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values, not company data.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38404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2064" y="384048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286000" y="4183380"/>
            <a:ext cx="32004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606040" y="38404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660904" y="384048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company and month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434840" y="4183380"/>
            <a:ext cx="32004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754880" y="38404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09744" y="384048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rule per column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583680" y="4183380"/>
            <a:ext cx="32004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903720" y="38404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1D8A99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958584" y="384048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monthly row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yearly panel uses the same idea one level up: flows are summed, prices come from the last month, and partial years are flagged.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SCIENCE: PIPELINE BLOCKS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Blocks in the data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Raw files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the nine company CSV files as delivered.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loaded unedited; never overwritten.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raw rows.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Cleaning rules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8288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a config file of rules for each file.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drops late rows, outcome columns, other companies, duplicates; labels provenance.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clean table and report.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40233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Monthly panel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6576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one row per company per month.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one rule per column: sum, last, mean, or count.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monthly table.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3108960"/>
            <a:ext cx="40233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84632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Yearly panel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6576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one row per company per year.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sums flows; takes prices from the last month.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yearly table.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SCIENCE: MODEL BLOCKS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Blocks in the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Features and targets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the inputs and the answer the model learns.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uses only the past 24 months; target is growth ahead.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training table.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Split and purge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8288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which months train and which test.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12-month blocks, shuffled with a seed, 70/30; touching rows removed.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train and test sets.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40233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Candidates and selection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6576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five models compared per company and horizon.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fit on training; pick the lowest validation loss.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selected model.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3108960"/>
            <a:ext cx="40233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84632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Final test and logs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6576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the honest score and the record of the run.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refit on training; score once on test; write a log.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accuracy and logs.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QUESTION TO ANSWER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one question becomes an answer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"What happens to the company in May if we cut staff?"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Ask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or spoken question reaches the language layer.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32588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2900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Plan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874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layer picks one tool and its settings, such as company, month, and toggles.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32588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1792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Check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874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 rejects anything outside the allowed pages, toggles, months, or read-only queries.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008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Build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657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builds features for the target month from the company's own history.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46120" y="310896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42900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Predict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3657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chosen model returns the growth range, phase probabilities, timing, and drivers.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35040" y="310896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21792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Explain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657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layer writes a plain explanation with sources and the disclaimer.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WHAT THE USER SEES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user sees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month, several months, or a span. Illustrative values: the shape matters.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71600"/>
          <a:ext cx="40233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663440" y="1371600"/>
          <a:ext cx="40233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one month (May) and the engine returns only that row. Ask for a span (January to June) and it returns all six. Turning a toggle on recomputes the forecast; turning it off returns the baseline.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values for explanation only.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WHAT THE USER SEES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outcome curve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values. The curve shape shows where the company could peak, fall, and recover.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2588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325880"/>
            <a:ext cx="29260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94360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point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Feb: growth could peak under the conflict, earlier than the baseline peak.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760720" y="2468880"/>
            <a:ext cx="29260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94360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Downfall point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3017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to Jun: the curve falls under the conflict if no action is taken.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760720" y="3611880"/>
            <a:ext cx="29260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943600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4160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starting in March keep the curve near the baseline by May.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values for explanation only.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SCIENCE: PREDICTION SETUP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month, several months, or a span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row unit is one month. Patterns come from inside the month and between months.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" y="2057400"/>
            <a:ext cx="896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737360" y="205740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92224" y="2057400"/>
            <a:ext cx="896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0" y="205740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80944" y="2057400"/>
            <a:ext cx="896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0" y="205740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69664" y="2057400"/>
            <a:ext cx="896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3520" y="205740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58384" y="2057400"/>
            <a:ext cx="896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0" y="205740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47104" y="2057400"/>
            <a:ext cx="896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80960" y="205740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35824" y="2057400"/>
            <a:ext cx="896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1874520"/>
            <a:ext cx="4754880" cy="0"/>
          </a:xfrm>
          <a:prstGeom prst="line">
            <a:avLst/>
          </a:prstGeom>
          <a:noFill/>
          <a:ln w="25400">
            <a:solidFill>
              <a:srgbClr val="1D8A9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months are read as features (lags, averages, slope)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month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40233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008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month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5204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month's own values and calendar: festival days, scenario flags, decision proxies.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2971800"/>
            <a:ext cx="40233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84632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months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5204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Lags, 3 to 12 month averages, drawdown, and a 12-month slope of the log level.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request maps to the same engine: one month (May), a span (January to June), or chosen months (March, June).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SCIENCE: MATHEMATICS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mathematics and how the model is chosen</a:t>
            </a:r>
            <a:endParaRPr lang="en-US" sz="3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4572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growth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Repeats this month's growth (baseline)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12-month average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Repeats the average growth (baseline)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the training median growth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Ordinary least squares on nine features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Quantile boosting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predicting the 10th, 50th, 90th percentiles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1325880"/>
            <a:ext cx="3383280" cy="29260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0" y="146304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Growth: g = v(t) / v(t-1) - 1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return: r = ln(v(t) / v(t-1))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Drawdown: d = v(t) / max of last 12 months - 1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Pinball loss: L = max(tau(y - q), (tau - 1)(y - q))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Selection: lowest average pinball loss on validation months. The test months are never used.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company gets its own selection, its own features, and its own logs. Averages are never pooled across companies by default.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SCIENCE: COMPARISON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company: different math, same logic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per company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values, the selected model, its fitted coefficients or trees, residual bands, and the forecast numbers. Two companies can end up with different models.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 the same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82880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steps: build features, compare candidates on validation months, test once, log the result. The phase rules and the comparison formula below are also shared.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8229600" cy="13258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56616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comparison formula (same for every company)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average over tau of L(tau), where L(tau) = max(tau(y - q), (tau - 1)(y - q))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comparison: Index(t) = 100 x value(t) / value(start). Lower score is better.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SCIENCE: TARGETS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engine can predict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numeric column per company, plus the probabilities, timing, and decision effects built on top.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numbers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(monthly and yearly), revenue or sales, cash, debt, margins, operating income, orders or volumes, and stock close and returns.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4023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8745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chance of each of the nine phases for each month. The chance of a crash, and of a peak, in each year.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4023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611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likely peak year and crash year, with ranges, and the factors that move them earlier or later.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3063240"/>
            <a:ext cx="4023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84632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and decision effects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611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each factor, scenario, or decision moved a month. The estimated change if a decision is switched on. Decision chains, peer-case outcomes, and a do-nothing path.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carries a range, its source, and the disclaimer.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SCIENCE: VALIDATION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without cheating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12-month blocks; purge training rows whose lookback or target touches a test month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621792" cy="548640"/>
          </a:xfrm>
          <a:prstGeom prst="roundRect">
            <a:avLst>
              <a:gd name="adj" fmla="val 13333"/>
            </a:avLst>
          </a:prstGeom>
          <a:solidFill>
            <a:srgbClr val="1D8A99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2064" y="16916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43000" y="1691640"/>
            <a:ext cx="621792" cy="548640"/>
          </a:xfrm>
          <a:prstGeom prst="roundRect">
            <a:avLst>
              <a:gd name="adj" fmla="val 13333"/>
            </a:avLst>
          </a:prstGeom>
          <a:solidFill>
            <a:srgbClr val="1D8A99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97864" y="16916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0" y="1691640"/>
            <a:ext cx="621792" cy="548640"/>
          </a:xfrm>
          <a:prstGeom prst="roundRect">
            <a:avLst>
              <a:gd name="adj" fmla="val 1333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83664" y="16916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14600" y="1691640"/>
            <a:ext cx="621792" cy="548640"/>
          </a:xfrm>
          <a:prstGeom prst="roundRect">
            <a:avLst>
              <a:gd name="adj" fmla="val 13333"/>
            </a:avLst>
          </a:prstGeom>
          <a:solidFill>
            <a:srgbClr val="C9D4DE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69464" y="16916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0" y="1691640"/>
            <a:ext cx="621792" cy="548640"/>
          </a:xfrm>
          <a:prstGeom prst="roundRect">
            <a:avLst>
              <a:gd name="adj" fmla="val 13333"/>
            </a:avLst>
          </a:prstGeom>
          <a:solidFill>
            <a:srgbClr val="1D8A99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55264" y="16916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886200" y="1691640"/>
            <a:ext cx="621792" cy="548640"/>
          </a:xfrm>
          <a:prstGeom prst="roundRect">
            <a:avLst>
              <a:gd name="adj" fmla="val 1333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41064" y="16916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0" y="1691640"/>
            <a:ext cx="621792" cy="548640"/>
          </a:xfrm>
          <a:prstGeom prst="roundRect">
            <a:avLst>
              <a:gd name="adj" fmla="val 13333"/>
            </a:avLst>
          </a:prstGeom>
          <a:solidFill>
            <a:srgbClr val="C9D4DE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26864" y="16916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257800" y="1691640"/>
            <a:ext cx="621792" cy="548640"/>
          </a:xfrm>
          <a:prstGeom prst="roundRect">
            <a:avLst>
              <a:gd name="adj" fmla="val 13333"/>
            </a:avLst>
          </a:prstGeom>
          <a:solidFill>
            <a:srgbClr val="1D8A99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12664" y="16916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0" y="1691640"/>
            <a:ext cx="621792" cy="548640"/>
          </a:xfrm>
          <a:prstGeom prst="roundRect">
            <a:avLst>
              <a:gd name="adj" fmla="val 13333"/>
            </a:avLst>
          </a:prstGeom>
          <a:solidFill>
            <a:srgbClr val="1D8A99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98464" y="16916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29400" y="1691640"/>
            <a:ext cx="621792" cy="548640"/>
          </a:xfrm>
          <a:prstGeom prst="roundRect">
            <a:avLst>
              <a:gd name="adj" fmla="val 1333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84264" y="16916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0" y="1691640"/>
            <a:ext cx="621792" cy="548640"/>
          </a:xfrm>
          <a:prstGeom prst="roundRect">
            <a:avLst>
              <a:gd name="adj" fmla="val 13333"/>
            </a:avLst>
          </a:prstGeom>
          <a:solidFill>
            <a:srgbClr val="C9D4DE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70064" y="16916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01000" y="1691640"/>
            <a:ext cx="621792" cy="548640"/>
          </a:xfrm>
          <a:prstGeom prst="roundRect">
            <a:avLst>
              <a:gd name="adj" fmla="val 13333"/>
            </a:avLst>
          </a:prstGeom>
          <a:solidFill>
            <a:srgbClr val="1D8A99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55864" y="16916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is 12 months. A purge zone surrounds each test block, so no training row reads test-period values.</a:t>
            </a:r>
            <a:endParaRPr lang="en-US" sz="1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92608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unit (JPMorgan trial)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rows left after purge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rows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1-month blocks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6-month blocks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12-month blocks (proposed)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3"/>
                    </a:solidFill>
                  </a:tcPr>
                </a:tc>
              </a:tr>
            </a:tbl>
          </a:graphicData>
        </a:graphic>
      </p:graphicFrame>
      <p:sp>
        <p:nvSpPr>
          <p:cNvPr id="31" name="Text 28"/>
          <p:cNvSpPr txBox="1"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keep one-month rows for prediction. Split at 12-month blocks, because one-month shuffling removes all training data.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EXPLANATION LAYER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RAG 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3657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a search finds the most relevant passages from our own documents. Step 2: a language model writes an answer using only those passages. It explains. It does not calculate.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RoCast needs it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828800"/>
            <a:ext cx="3657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ask 'why did this month move?' or 'what happened in 2019?'. The answer must point to our records, not to general knowledge. RAG keeps answers tied to our data.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 engine answers 'what will happen?'. RAG answers 'what does this mean, and where is it from?'.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EXPLANATION LAYER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RAG is used in RoCast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Explain a forecast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the events, decisions, and calendar entries that shaped the month.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Recall history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past occasions of a festival, decision, or event, and what followed them.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Define terms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 about any column, using the data dictionary.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Compare companies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similar cases in the same niche for peer context.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46120" y="301752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42900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Board view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index per company, plus one combined index for the market-wide view.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301752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21792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RAG never does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Forecast, invent a number, or read raw company rows.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EXPLANATION LAYER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(RAG): scope and limits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2064" y="132588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summaries, events, calendars, filings, dictionary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32588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00984" y="132588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Chunks: one per company-year, event, calendar month, or decision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35040" y="132588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89904" y="132588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Embeddings: local model (nomic-embed-text)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1737360"/>
            <a:ext cx="50292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532120" y="1737360"/>
            <a:ext cx="50292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035040" y="274320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1D8A99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89904" y="274320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 one per company, plus one board index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60920" y="2148840"/>
            <a:ext cx="0" cy="59436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46120" y="274320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1D8A99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00984" y="274320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by company, year, and source type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064" y="274320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 writes the explanation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 flipH="1">
            <a:off x="5532120" y="3154680"/>
            <a:ext cx="50292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H="1">
            <a:off x="2743200" y="3154680"/>
            <a:ext cx="50292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0080" y="3977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38912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text explains and gives context. Numbers come only from the engine's tool results.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EXPLANATION LAYER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layer and the API key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API key does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Turns questions into one tool call.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Writes plain explanations from engine outputs.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Helps write and review pipeline code.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never does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8288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forecasts, probabilities, or peak years.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raw company rows.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without a tool result behind it.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" y="3611880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local Qwen 2.5 7B. Offline and free.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46120" y="36118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D8A99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00984" y="3611880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Upgrade: Beam via Ollama cloud (terminal)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36118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89904" y="3611880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Later: Claude API, with a monthly spending cap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ask for the key: better question handling and clearer explanations. A sponsor-set monthly cap keeps cost fixed. The system works without it.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SYSTEM INTEGRATION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chain: links 1 to 3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link passes its tests before the next one runs.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cleaning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2286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applies cleaning rules to each raw file.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 out: raw CSV to clean table and report.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dropped-row counts reconcile; future rows and outcome columns are removed.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Catches: future dates, leaked answers, wrong companies.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325880"/>
            <a:ext cx="26517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2900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Panels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874520"/>
            <a:ext cx="2286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builds monthly and yearly tables.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 out: clean rows to monthly and yearly rows.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sums and partial-year flags checked on small examples.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Catches: double counting, wrong partial-year labels.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325880"/>
            <a:ext cx="26517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1792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Features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874520"/>
            <a:ext cx="2286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builds the model's inputs and answers.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 out: monthly table to features and targets.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a future month never changes a past feature.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Catches: future data leaking into the past.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526280"/>
            <a:ext cx="8229600" cy="548640"/>
          </a:xfrm>
          <a:prstGeom prst="rect">
            <a:avLst/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526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1 to 3 have tests that pass on the trial files. They check the code, not forecast accuracy.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SYSTEM INTEGRATION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chain: links 4 to 6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link passes its tests before the next one runs.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Models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2286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picks and scores the model per company and horizon.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 out: features to selected model and logs.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changing test-month values leaves selection scores unchanged.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Catches: the test set influencing the choice.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325880"/>
            <a:ext cx="26517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2900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API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874520"/>
            <a:ext cx="2286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serves results to the dashboard.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 out: request to checked JSON with key, baseline, data date.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toggles on the wrong page and bad spans are rejected.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Catches: invalid requests, missing sources.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325880"/>
            <a:ext cx="26517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1792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Dashboard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874520"/>
            <a:ext cx="2286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draws the five pages.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 out: JSON to charts.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(planned): each chart reads the agreed fields; baseline shows with no toggles.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Catches: wrong charts, toggles on the wrong page.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526280"/>
            <a:ext cx="8229600" cy="548640"/>
          </a:xfrm>
          <a:prstGeom prst="rect">
            <a:avLst/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526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4 and 5 are tested. Link 6 is planned; frontend tests start once the API is live.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RECOMMENDATIONS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Recommendations: replicating a peer's decision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peer grew after a decision. What would replicating it do to this company's whole path?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D8A99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2064" y="1371600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took the decision and grew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68880" y="13716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23744" y="1371600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to this company: niche, conditions, match score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13716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35424" y="1371600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path if this company replicates it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92240" y="13716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47104" y="1371600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 on every step: budget, margin, phase, crash risk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194560" y="1828800"/>
            <a:ext cx="27432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06240" y="1828800"/>
            <a:ext cx="27432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7920" y="1828800"/>
            <a:ext cx="27432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1828800"/>
                <a:gridCol w="18288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 (illustrative)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replicated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over the span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+1% to +8%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after 12 months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 to 109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 of a crash in 2 years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 to 14%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 peer cases used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4572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Copying a decision does not copy the peer's conditions. The match score and case count are shown, and the estimate is labelled.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ANALYTICS: DASHBOARD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Dashboard: six pages in detail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Company profile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key financials, decision history, data notes, and where each value came from.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517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Pros and cons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7373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and weaknesses against niche peers. Each item links to the decision or event behind it.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188720"/>
            <a:ext cx="26517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History graph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7373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company's own curve, with peaks, troughs, recoveries, festival and event regions, and decision pins.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26517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Forecast and scenario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6576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curves, the decision chain, scenario comparison, and the toggle tree.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46120" y="3108960"/>
            <a:ext cx="26517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42900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Competitors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6576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comparison on one set of axes, with peers overlaid on the other graphs.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3108960"/>
            <a:ext cx="26517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21792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Recommendations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6576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to avoid a crash or grow faster, with peer replication and its effect on every step.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ANALYTICS: DASHBOARD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toggle lives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toggle appears only on the page where it applies.</a:t>
            </a:r>
            <a:endParaRPr lang="en-US" sz="14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474720"/>
                <a:gridCol w="2377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Toggle groups on this page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Company profile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Span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January to June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Pros and cons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 group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Niche peers or country peers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History graph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Overlays: festivals, events, decisions, competitors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Holi regions and peer lines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Forecast and scenario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Festivals, scenarios, macro, decisions, competitors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Holi on; conflict on; rates up 0.5 point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Competitors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 group, 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Peers in the same niche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Recommendations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Decisions to replicate, span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Replicate a peer's decision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holds the full toggle tree. Competitors overlay pages 3 and 4 so the peers are visible on the company's own graphs.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ANALYTICS: DASHBOARD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colour key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element has its own colour, so the eye can separate them at a glance.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40080" cy="36576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8016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line (solid)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84832"/>
            <a:ext cx="640080" cy="365760"/>
          </a:xfrm>
          <a:prstGeom prst="rect">
            <a:avLst/>
          </a:prstGeom>
          <a:solidFill>
            <a:srgbClr val="1D8A99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80160" y="20848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forecast (dashed)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06624"/>
            <a:ext cx="640080" cy="36576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80160" y="27066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forecast (toggles on)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28416"/>
            <a:ext cx="640080" cy="365760"/>
          </a:xfrm>
          <a:prstGeom prst="rect">
            <a:avLst/>
          </a:prstGeom>
          <a:solidFill>
            <a:srgbClr val="B8E0E6"/>
          </a:solidFill>
          <a:ln w="12700">
            <a:solidFill>
              <a:srgbClr val="B8E0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80160" y="33284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range (shaded)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950208"/>
            <a:ext cx="640080" cy="365760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80160" y="39502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marker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1463040"/>
            <a:ext cx="640080" cy="365760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7784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or trough marker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2084832"/>
            <a:ext cx="640080" cy="36576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77840" y="20848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region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2706624"/>
            <a:ext cx="640080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77840" y="27066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region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3328416"/>
            <a:ext cx="640080" cy="365760"/>
          </a:xfrm>
          <a:prstGeom prst="rect">
            <a:avLst/>
          </a:prstGeom>
          <a:solidFill>
            <a:srgbClr val="E76F9C"/>
          </a:solidFill>
          <a:ln w="12700">
            <a:solidFill>
              <a:srgbClr val="E76F9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77840" y="33284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pin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3950208"/>
            <a:ext cx="640080" cy="365760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77840" y="39502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line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is never used alone. Line style and shape repeat the meaning, so the charts still read for colour-blind viewers.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ANALYTICS: DASHBOARD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Frontend: five pages in one window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128016" cy="128016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417320"/>
            <a:ext cx="128016" cy="12801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2416" y="1417320"/>
            <a:ext cx="128016" cy="128016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137160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32304" y="137160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66160" y="137160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21024" y="137160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9744" y="137160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0" y="137160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98464" y="137160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32320" y="137160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87184" y="137160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</a:t>
            </a:r>
            <a:endParaRPr lang="en-US" sz="14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40080" y="1783080"/>
          <a:ext cx="53949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640080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0" y="21488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55664" y="214884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Festivals: Holi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400800" y="26060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55664" y="260604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Scenarios: conflict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00800" y="30632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D8A99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55664" y="306324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Macro: rates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400800" y="35204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E76F9C"/>
          </a:solidFill>
          <a:ln w="12700">
            <a:solidFill>
              <a:srgbClr val="E76F9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55664" y="352044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Decisions: layoffs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shown. Curves are smooth. Colours follow the colour key.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PROJECT 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Four-day plan and risks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2064" y="132588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659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real data, run cleaning and checks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32888" y="1325880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1D8A99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87752" y="132588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532888" y="19659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company pipelines, review logs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08576" y="1325880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32588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08576" y="19659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endpoints, retrieval index, language layer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84264" y="1325880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1D8A99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39128" y="132588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84264" y="19659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rehearsal, recording as backup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40233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08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47472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arrives late or with new columns.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companies have too little history.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memory limits (16 and 32 GB).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40233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84632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47472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 cleaning and tests.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weak companies as weak.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companies in batches by data size.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QUESTIONS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for our professor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2064" y="132588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25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12-month split with one-month rows acceptable, or should a time-ordered split be the headline?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D8A99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" y="219456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1945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accuracy measure should be the headline: pinball loss, interval coverage, or both?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" y="306324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0632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decision chains and what-if paths acceptable if they are clearly labelled as estimates?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D8A99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" y="393192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931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the hackathon stay fully local, or use a capped API key for the language layer?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RoCast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RoCast pitch deck</dc:title>
  <dc:subject>PptxGenJS Presentation</dc:subject>
  <dc:creator>PptxGenJS</dc:creator>
  <cp:lastModifiedBy>PptxGenJS</cp:lastModifiedBy>
  <cp:revision>1</cp:revision>
  <dcterms:created xsi:type="dcterms:W3CDTF">2026-10-24T07:56:44Z</dcterms:created>
  <dcterms:modified xsi:type="dcterms:W3CDTF">2026-10-24T07:56:44Z</dcterms:modified>
</cp:coreProperties>
</file>